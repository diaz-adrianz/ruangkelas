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33" Type="http://schemas.openxmlformats.org/officeDocument/2006/relationships/font" Target="fonts/Lato-italic.fntdata"/><Relationship Id="rId10" Type="http://schemas.openxmlformats.org/officeDocument/2006/relationships/slide" Target="slides/slide5.xml"/><Relationship Id="rId32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La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17164b43aa_0_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17164b43aa_0_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17164b43aa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17164b43aa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1239a0fd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1239a0fd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17164b43aa_0_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17164b43aa_0_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133b2803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133b2803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17164b43aa_0_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17164b43aa_0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1655e2c60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1655e2c60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1655e2c60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1655e2c60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17164b43aa_0_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17164b43aa_0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17164b43aa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17164b43aa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1b74ba9d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31b74ba9d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31b74ba9d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31b74ba9d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17164b43aa_0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17164b43aa_0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17164b43aa_0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17164b43aa_0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17164b43aa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17164b43aa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17164b43aa_0_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17164b43aa_0_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1647b915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1647b915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1647b9158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1647b9158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1655e2c60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1655e2c60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1655e2c60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11655e2c60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eknows.uinsgd.ac.id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11" Type="http://schemas.openxmlformats.org/officeDocument/2006/relationships/image" Target="../media/image22.png"/><Relationship Id="rId10" Type="http://schemas.openxmlformats.org/officeDocument/2006/relationships/image" Target="../media/image15.png"/><Relationship Id="rId9" Type="http://schemas.openxmlformats.org/officeDocument/2006/relationships/image" Target="../media/image20.png"/><Relationship Id="rId5" Type="http://schemas.openxmlformats.org/officeDocument/2006/relationships/image" Target="../media/image12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BASIS DATA </a:t>
            </a:r>
            <a:r>
              <a:rPr b="0" lang="id" sz="1600"/>
              <a:t>Kontrak Kuliah</a:t>
            </a:r>
            <a:endParaRPr b="0" sz="16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419425"/>
            <a:ext cx="7688100" cy="11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Wildan Budiawan Zulfikar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0955" y="585287"/>
            <a:ext cx="1159384" cy="1585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9101" y="785162"/>
            <a:ext cx="1119102" cy="1119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Capaian Perkuliahan</a:t>
            </a:r>
            <a:endParaRPr/>
          </a:p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96" name="Google Shape;9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901475"/>
            <a:ext cx="7215803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Kontrak Perkuliahan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729450" y="1762125"/>
            <a:ext cx="3842400" cy="32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id" sz="1305"/>
              <a:t>Aturan Perkuliahan:</a:t>
            </a:r>
            <a:endParaRPr b="1" sz="1305"/>
          </a:p>
          <a:p>
            <a:pPr indent="-311467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305"/>
              <a:buChar char="-"/>
            </a:pPr>
            <a:r>
              <a:rPr lang="id" sz="1305"/>
              <a:t>Ontime</a:t>
            </a:r>
            <a:endParaRPr sz="1305"/>
          </a:p>
          <a:p>
            <a:pPr indent="-311467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05"/>
              <a:buChar char="-"/>
            </a:pPr>
            <a:r>
              <a:rPr lang="id" sz="1305"/>
              <a:t>Tidak Menggunakan Smartphone/Laptop/sejenisnya  (</a:t>
            </a:r>
            <a:r>
              <a:rPr b="1" lang="id" sz="1305"/>
              <a:t>kecuali ada instruksi</a:t>
            </a:r>
            <a:r>
              <a:rPr lang="id" sz="1305"/>
              <a:t>)</a:t>
            </a:r>
            <a:endParaRPr sz="130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id" sz="1305"/>
              <a:t>Aturan Penilaian:</a:t>
            </a:r>
            <a:endParaRPr b="1" sz="1305"/>
          </a:p>
          <a:p>
            <a:pPr indent="45720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id" sz="1305"/>
              <a:t>Assignment (mandiri dan terstruktur) 25%</a:t>
            </a:r>
            <a:endParaRPr sz="1305"/>
          </a:p>
          <a:p>
            <a:pPr indent="45720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id" sz="1305"/>
              <a:t>Sikap (25%)</a:t>
            </a:r>
            <a:endParaRPr b="1" sz="1305"/>
          </a:p>
          <a:p>
            <a:pPr indent="45720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id" sz="1305"/>
              <a:t>Proyek 1</a:t>
            </a:r>
            <a:r>
              <a:rPr lang="id" sz="1305"/>
              <a:t> (25%)</a:t>
            </a:r>
            <a:endParaRPr sz="1305"/>
          </a:p>
          <a:p>
            <a:pPr indent="45720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id" sz="1305"/>
              <a:t>Proyek 2 (25%)</a:t>
            </a:r>
            <a:endParaRPr b="1" sz="1305"/>
          </a:p>
        </p:txBody>
      </p:sp>
      <p:sp>
        <p:nvSpPr>
          <p:cNvPr id="103" name="Google Shape;103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4768050" y="1926475"/>
            <a:ext cx="3842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/>
              <a:t>Syarat Kelulusan</a:t>
            </a:r>
            <a:r>
              <a:rPr b="1" lang="id"/>
              <a:t>: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id"/>
              <a:t>Nilai minimal C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d"/>
              <a:t>Credit Point: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/>
              <a:t>3 SKS (2+1)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Learning Management System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id" sz="2100"/>
              <a:t>LMS : </a:t>
            </a:r>
            <a:r>
              <a:rPr lang="id" sz="2100" u="sng">
                <a:solidFill>
                  <a:schemeClr val="hlink"/>
                </a:solidFill>
                <a:hlinkClick r:id="rId3"/>
              </a:rPr>
              <a:t>https://lms.uinsgd.ac.id/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id" sz="2100"/>
              <a:t>Exercises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id" sz="2100"/>
              <a:t>Assignments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id" sz="2100"/>
              <a:t>Projects</a:t>
            </a:r>
            <a:endParaRPr sz="2100"/>
          </a:p>
        </p:txBody>
      </p:sp>
      <p:sp>
        <p:nvSpPr>
          <p:cNvPr id="111" name="Google Shape;111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Keterkaitan Mata Kuliah</a:t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50" y="123557"/>
            <a:ext cx="8934812" cy="462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2281225" y="1430925"/>
            <a:ext cx="61188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0" lang="id" sz="3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https://discord.gg/WBdUAecXN6</a:t>
            </a:r>
            <a:endParaRPr b="0" sz="3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" name="Google Shape;125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126" name="Google Shape;12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225" y="1390100"/>
            <a:ext cx="1381500" cy="13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250" y="3441800"/>
            <a:ext cx="1457449" cy="145744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 txBox="1"/>
          <p:nvPr>
            <p:ph type="title"/>
          </p:nvPr>
        </p:nvSpPr>
        <p:spPr>
          <a:xfrm>
            <a:off x="2417500" y="3441800"/>
            <a:ext cx="61188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0" lang="id" sz="3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https://link.uinsgd.ac.id/basis-data</a:t>
            </a:r>
            <a:endParaRPr b="0" sz="3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Konten Kuliah</a:t>
            </a:r>
            <a:endParaRPr/>
          </a:p>
        </p:txBody>
      </p:sp>
      <p:sp>
        <p:nvSpPr>
          <p:cNvPr id="134" name="Google Shape;134;p19"/>
          <p:cNvSpPr txBox="1"/>
          <p:nvPr>
            <p:ph idx="1" type="body"/>
          </p:nvPr>
        </p:nvSpPr>
        <p:spPr>
          <a:xfrm>
            <a:off x="729450" y="2078875"/>
            <a:ext cx="37035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d" sz="1400"/>
              <a:t>Pengenalan Basis Data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d" sz="1400"/>
              <a:t>Data, Informasi, dan Basis Data Relasional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d" sz="1400"/>
              <a:t>Entitas dan Atribut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d" sz="1400"/>
              <a:t>Notasi ERD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d" sz="1400"/>
              <a:t>Jenis Relasi: 1:1 dan 1:n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d" sz="1400"/>
              <a:t>Jenis Relasi: n:m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d" sz="1400"/>
              <a:t>Normalisasi</a:t>
            </a:r>
            <a:endParaRPr sz="1400"/>
          </a:p>
        </p:txBody>
      </p:sp>
      <p:sp>
        <p:nvSpPr>
          <p:cNvPr id="135" name="Google Shape;135;p19"/>
          <p:cNvSpPr txBox="1"/>
          <p:nvPr>
            <p:ph idx="1" type="body"/>
          </p:nvPr>
        </p:nvSpPr>
        <p:spPr>
          <a:xfrm>
            <a:off x="5190300" y="2078875"/>
            <a:ext cx="3703500" cy="26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d" sz="1400"/>
              <a:t>Pengenalan Platform Basis Data Relasional dan SQL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d" sz="1400"/>
              <a:t>Operasi Data Definition Language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d" sz="1400"/>
              <a:t>Operasi Data Manipulation Language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d" sz="1400"/>
              <a:t>Operasi JOIN, Agregasi, dan Percabangan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d" sz="1400"/>
              <a:t>Pengendalian Transaksi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d" sz="1400"/>
              <a:t>Pengaplikasian Basis Data Relasional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d" sz="1400"/>
              <a:t>Basis Data Relasional untuk Visualisasi dan Analisis Data</a:t>
            </a:r>
            <a:endParaRPr sz="1400"/>
          </a:p>
        </p:txBody>
      </p:sp>
      <p:sp>
        <p:nvSpPr>
          <p:cNvPr id="136" name="Google Shape;136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BASIS DATA </a:t>
            </a:r>
            <a:r>
              <a:rPr b="0" lang="id" sz="1600"/>
              <a:t>Pertemuan 01</a:t>
            </a:r>
            <a:endParaRPr b="0" sz="1600"/>
          </a:p>
        </p:txBody>
      </p:sp>
      <p:sp>
        <p:nvSpPr>
          <p:cNvPr id="142" name="Google Shape;142;p20"/>
          <p:cNvSpPr txBox="1"/>
          <p:nvPr>
            <p:ph idx="1" type="subTitle"/>
          </p:nvPr>
        </p:nvSpPr>
        <p:spPr>
          <a:xfrm>
            <a:off x="729625" y="3419425"/>
            <a:ext cx="7688100" cy="11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Wildan Budiawan Zulfikar</a:t>
            </a:r>
            <a:endParaRPr/>
          </a:p>
        </p:txBody>
      </p:sp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0955" y="585287"/>
            <a:ext cx="1159384" cy="1585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9101" y="785162"/>
            <a:ext cx="1119102" cy="1119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Indikator Ketercapaian</a:t>
            </a:r>
            <a:endParaRPr/>
          </a:p>
        </p:txBody>
      </p:sp>
      <p:sp>
        <p:nvSpPr>
          <p:cNvPr id="150" name="Google Shape;150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151" name="Google Shape;15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853850"/>
            <a:ext cx="6146768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Mengapa perlu belajar Basis Data?</a:t>
            </a:r>
            <a:endParaRPr/>
          </a:p>
        </p:txBody>
      </p:sp>
      <p:sp>
        <p:nvSpPr>
          <p:cNvPr id="157" name="Google Shape;157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id" sz="294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THERE ARE A LOT OF DATAS AROUND US</a:t>
            </a:r>
            <a:endParaRPr sz="204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23"/>
          <p:cNvSpPr txBox="1"/>
          <p:nvPr>
            <p:ph idx="1" type="body"/>
          </p:nvPr>
        </p:nvSpPr>
        <p:spPr>
          <a:xfrm>
            <a:off x="729450" y="2078875"/>
            <a:ext cx="7688700" cy="25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id" sz="1700"/>
              <a:t>&gt;10,000 tweet per detik 600 juta tweet per hari.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id" sz="1700"/>
              <a:t>Facebook: &gt;30 milyar item (link, status, note, foto dst) per bulan. 500 juta user menghabiskan &gt;700 milyar menit per bulan di situs FB.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id" sz="1700"/>
              <a:t>Indomaret: &gt;4500 gerai, asumsikan 3 transaksi per menit = 12 juta transaksi per hari se Indonesia.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id" sz="1700"/>
              <a:t>Bank, Shopee, Grab, OVO, WhatsApp, Telegram, YouTUbe?</a:t>
            </a:r>
            <a:endParaRPr sz="1700"/>
          </a:p>
        </p:txBody>
      </p:sp>
      <p:sp>
        <p:nvSpPr>
          <p:cNvPr id="164" name="Google Shape;164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172" name="Google Shape;17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8608"/>
            <a:ext cx="9144000" cy="4789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180" name="Google Shape;18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6866"/>
            <a:ext cx="9144000" cy="4829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Where’s the data?</a:t>
            </a:r>
            <a:endParaRPr/>
          </a:p>
        </p:txBody>
      </p:sp>
      <p:sp>
        <p:nvSpPr>
          <p:cNvPr id="186" name="Google Shape;186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951061"/>
            <a:ext cx="7954250" cy="251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Bagaimana data dikelola?</a:t>
            </a:r>
            <a:endParaRPr/>
          </a:p>
        </p:txBody>
      </p:sp>
      <p:sp>
        <p:nvSpPr>
          <p:cNvPr id="194" name="Google Shape;194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849" y="1933200"/>
            <a:ext cx="4747628" cy="287684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SQL and “Not Only” SQL</a:t>
            </a:r>
            <a:endParaRPr/>
          </a:p>
        </p:txBody>
      </p:sp>
      <p:sp>
        <p:nvSpPr>
          <p:cNvPr id="210" name="Google Shape;210;p2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Basis Data Relasional</a:t>
            </a:r>
            <a:endParaRPr/>
          </a:p>
        </p:txBody>
      </p:sp>
      <p:sp>
        <p:nvSpPr>
          <p:cNvPr id="219" name="Google Shape;219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DB Engine dan Perangkat Spesifik</a:t>
            </a:r>
            <a:endParaRPr/>
          </a:p>
        </p:txBody>
      </p:sp>
      <p:sp>
        <p:nvSpPr>
          <p:cNvPr id="225" name="Google Shape;225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id" sz="2100"/>
              <a:t>https://www.diagrams.net/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id" sz="2100"/>
              <a:t>MySQL / MariaDB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id" sz="2100"/>
              <a:t>Navicat /</a:t>
            </a:r>
            <a:r>
              <a:rPr lang="id" sz="2100"/>
              <a:t>https://www.diagrams.net/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id" sz="2100"/>
              <a:t>Docker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id" sz="2100"/>
              <a:t>Metabase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id" sz="2100"/>
              <a:t>etc</a:t>
            </a:r>
            <a:endParaRPr sz="2100"/>
          </a:p>
        </p:txBody>
      </p:sp>
      <p:pic>
        <p:nvPicPr>
          <p:cNvPr id="226" name="Google Shape;22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1175" y="4015300"/>
            <a:ext cx="1648450" cy="8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6675" y="3263700"/>
            <a:ext cx="1409875" cy="14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4141" y="1812550"/>
            <a:ext cx="1375111" cy="5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09200" y="2347750"/>
            <a:ext cx="965175" cy="96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18218" y="2784143"/>
            <a:ext cx="965175" cy="96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66552" y="723288"/>
            <a:ext cx="1321346" cy="1130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26221" y="4396000"/>
            <a:ext cx="1168348" cy="657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05269" y="4339982"/>
            <a:ext cx="662650" cy="35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467950" y="661250"/>
            <a:ext cx="616450" cy="61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Exercise 01 Teori dan Praktikum</a:t>
            </a:r>
            <a:endParaRPr/>
          </a:p>
        </p:txBody>
      </p:sp>
      <p:sp>
        <p:nvSpPr>
          <p:cNvPr id="241" name="Google Shape;241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id" sz="2000"/>
              <a:t>JOIN ke channel 2025-2-basis-data di discord!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id" sz="2000"/>
              <a:t>Diskusi mengenai topik yang ditentukan!</a:t>
            </a:r>
            <a:endParaRPr sz="2000"/>
          </a:p>
        </p:txBody>
      </p:sp>
      <p:sp>
        <p:nvSpPr>
          <p:cNvPr id="242" name="Google Shape;242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Literatur</a:t>
            </a:r>
            <a:endParaRPr/>
          </a:p>
        </p:txBody>
      </p:sp>
      <p:sp>
        <p:nvSpPr>
          <p:cNvPr id="248" name="Google Shape;248;p3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145256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25000"/>
              <a:buFont typeface="Lato"/>
              <a:buChar char="•"/>
            </a:pPr>
            <a:r>
              <a:rPr lang="id" sz="2800">
                <a:solidFill>
                  <a:srgbClr val="000000"/>
                </a:solidFill>
              </a:rPr>
              <a:t>Avi Silberschatz, et al. 2006. DATABASE SYSTEM CONCEPT 5th Edition</a:t>
            </a:r>
            <a:endParaRPr sz="2400">
              <a:solidFill>
                <a:srgbClr val="000000"/>
              </a:solidFill>
            </a:endParaRPr>
          </a:p>
          <a:p>
            <a:pPr indent="-145256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25000"/>
              <a:buFont typeface="Lato"/>
              <a:buChar char="•"/>
            </a:pPr>
            <a:r>
              <a:rPr lang="id" sz="2800">
                <a:solidFill>
                  <a:srgbClr val="000000"/>
                </a:solidFill>
              </a:rPr>
              <a:t>Elmasri and Navathe. 2011. Fundamentals of Database System 6th Edition. Addison-Wesley</a:t>
            </a:r>
            <a:endParaRPr sz="2400">
              <a:solidFill>
                <a:srgbClr val="000000"/>
              </a:solidFill>
            </a:endParaRPr>
          </a:p>
          <a:p>
            <a:pPr indent="-145256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25000"/>
              <a:buFont typeface="Lato"/>
              <a:buChar char="•"/>
            </a:pPr>
            <a:r>
              <a:rPr lang="id" sz="2800">
                <a:solidFill>
                  <a:srgbClr val="000000"/>
                </a:solidFill>
              </a:rPr>
              <a:t>Oracle Academy</a:t>
            </a:r>
            <a:endParaRPr sz="2400">
              <a:solidFill>
                <a:srgbClr val="000000"/>
              </a:solidFill>
            </a:endParaRPr>
          </a:p>
          <a:p>
            <a:pPr indent="-145256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25000"/>
              <a:buFont typeface="Lato"/>
              <a:buChar char="•"/>
            </a:pPr>
            <a:r>
              <a:rPr lang="id" sz="2800">
                <a:solidFill>
                  <a:srgbClr val="000000"/>
                </a:solidFill>
              </a:rPr>
              <a:t>Any related sources</a:t>
            </a:r>
            <a:endParaRPr/>
          </a:p>
        </p:txBody>
      </p:sp>
      <p:sp>
        <p:nvSpPr>
          <p:cNvPr id="249" name="Google Shape;249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